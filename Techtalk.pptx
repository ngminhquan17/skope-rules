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to Sans Bold" charset="1" panose="020B0802040504020204"/>
      <p:regular r:id="rId13"/>
    </p:embeddedFont>
    <p:embeddedFont>
      <p:font typeface="Noto Sans" charset="1" panose="020B0502040504020204"/>
      <p:regular r:id="rId14"/>
    </p:embeddedFont>
    <p:embeddedFont>
      <p:font typeface="Noto Sans Italics" charset="1" panose="020B050204050409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41680" y="-301752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2D3A7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1920" y="630936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2D3A7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577340"/>
            <a:ext cx="8229600" cy="685800"/>
            <a:chOff x="0" y="0"/>
            <a:chExt cx="109728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09728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 spc="450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Tech Talk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400300"/>
            <a:ext cx="15773400" cy="3017520"/>
            <a:chOff x="0" y="0"/>
            <a:chExt cx="21031200" cy="4023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853" r="0" b="-5185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21031200" cy="4109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08"/>
                </a:lnSpc>
              </a:pPr>
              <a:r>
                <a:rPr lang="en-US" sz="69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Tree Ensemble から</a:t>
              </a:r>
            </a:p>
            <a:p>
              <a:pPr algn="l">
                <a:lnSpc>
                  <a:spcPts val="9108"/>
                </a:lnSpc>
              </a:pPr>
              <a:r>
                <a:rPr lang="en-US" sz="69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解釈可能な Rule を抽出する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829300"/>
            <a:ext cx="15087600" cy="822960"/>
            <a:chOff x="0" y="0"/>
            <a:chExt cx="201168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01168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MIT 研究グループの手法 — ルール自動作成プロジェクトへの応用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7680960"/>
            <a:ext cx="4526280" cy="1028700"/>
            <a:chOff x="0" y="0"/>
            <a:chExt cx="603504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815584" y="0"/>
                  </a:lnTo>
                  <a:cubicBezTo>
                    <a:pt x="5936742" y="0"/>
                    <a:pt x="6035040" y="98298"/>
                    <a:pt x="6035040" y="219456"/>
                  </a:cubicBezTo>
                  <a:lnTo>
                    <a:pt x="6035040" y="1152144"/>
                  </a:lnTo>
                  <a:cubicBezTo>
                    <a:pt x="6035040" y="1273302"/>
                    <a:pt x="5936742" y="1371600"/>
                    <a:pt x="5815584" y="1371600"/>
                  </a:cubicBezTo>
                  <a:lnTo>
                    <a:pt x="219456" y="1371600"/>
                  </a:lnTo>
                  <a:cubicBezTo>
                    <a:pt x="98298" y="1371600"/>
                    <a:pt x="0" y="1273302"/>
                    <a:pt x="0" y="1152144"/>
                  </a:cubicBezTo>
                  <a:close/>
                </a:path>
              </a:pathLst>
            </a:custGeom>
            <a:solidFill>
              <a:srgbClr val="2D3A7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7680960"/>
            <a:ext cx="4526280" cy="1028700"/>
            <a:chOff x="0" y="0"/>
            <a:chExt cx="603504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603504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最適化で rule を選抜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03620" y="7680960"/>
            <a:ext cx="4526280" cy="1028700"/>
            <a:chOff x="0" y="0"/>
            <a:chExt cx="603504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815584" y="0"/>
                  </a:lnTo>
                  <a:cubicBezTo>
                    <a:pt x="5936742" y="0"/>
                    <a:pt x="6035040" y="98298"/>
                    <a:pt x="6035040" y="219456"/>
                  </a:cubicBezTo>
                  <a:lnTo>
                    <a:pt x="6035040" y="1152144"/>
                  </a:lnTo>
                  <a:cubicBezTo>
                    <a:pt x="6035040" y="1273302"/>
                    <a:pt x="5936742" y="1371600"/>
                    <a:pt x="5815584" y="1371600"/>
                  </a:cubicBezTo>
                  <a:lnTo>
                    <a:pt x="219456" y="1371600"/>
                  </a:lnTo>
                  <a:cubicBezTo>
                    <a:pt x="98298" y="1371600"/>
                    <a:pt x="0" y="1273302"/>
                    <a:pt x="0" y="1152144"/>
                  </a:cubicBezTo>
                  <a:close/>
                </a:path>
              </a:pathLst>
            </a:custGeom>
            <a:solidFill>
              <a:srgbClr val="2D3A7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03620" y="7680960"/>
            <a:ext cx="4526280" cy="1028700"/>
            <a:chOff x="0" y="0"/>
            <a:chExt cx="603504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603504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rule 数と深さを制御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972800" y="7680960"/>
            <a:ext cx="4526280" cy="1028700"/>
            <a:chOff x="0" y="0"/>
            <a:chExt cx="603504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815584" y="0"/>
                  </a:lnTo>
                  <a:cubicBezTo>
                    <a:pt x="5936742" y="0"/>
                    <a:pt x="6035040" y="98298"/>
                    <a:pt x="6035040" y="219456"/>
                  </a:cubicBezTo>
                  <a:lnTo>
                    <a:pt x="6035040" y="1152144"/>
                  </a:lnTo>
                  <a:cubicBezTo>
                    <a:pt x="6035040" y="1273302"/>
                    <a:pt x="5936742" y="1371600"/>
                    <a:pt x="5815584" y="1371600"/>
                  </a:cubicBezTo>
                  <a:lnTo>
                    <a:pt x="219456" y="1371600"/>
                  </a:lnTo>
                  <a:cubicBezTo>
                    <a:pt x="98298" y="1371600"/>
                    <a:pt x="0" y="1273302"/>
                    <a:pt x="0" y="1152144"/>
                  </a:cubicBezTo>
                  <a:close/>
                </a:path>
              </a:pathLst>
            </a:custGeom>
            <a:solidFill>
              <a:srgbClr val="2D3A7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0" y="7680960"/>
            <a:ext cx="4526280" cy="1028700"/>
            <a:chOff x="0" y="0"/>
            <a:chExt cx="603504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03504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全体最適を保証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課題：無数の rule から最良の組を選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93040" y="2057400"/>
            <a:ext cx="4937760" cy="685800"/>
            <a:chOff x="0" y="0"/>
            <a:chExt cx="658368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6583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得られる利点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93040" y="2948940"/>
            <a:ext cx="4800600" cy="905256"/>
            <a:chOff x="0" y="0"/>
            <a:chExt cx="6400800" cy="12070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98780" y="3195828"/>
            <a:ext cx="411480" cy="411480"/>
            <a:chOff x="0" y="0"/>
            <a:chExt cx="548640" cy="54864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47420" y="2948940"/>
            <a:ext cx="3977640" cy="905256"/>
            <a:chOff x="0" y="0"/>
            <a:chExt cx="5303520" cy="12070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モデルが学んだ内容を把握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93040" y="4018788"/>
            <a:ext cx="4800600" cy="905256"/>
            <a:chOff x="0" y="0"/>
            <a:chExt cx="6400800" cy="1207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098780" y="4265676"/>
            <a:ext cx="411480" cy="411480"/>
            <a:chOff x="0" y="0"/>
            <a:chExt cx="548640" cy="54864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47420" y="4018788"/>
            <a:ext cx="3977640" cy="905256"/>
            <a:chOff x="0" y="0"/>
            <a:chExt cx="5303520" cy="12070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誤った rule・過学習を発見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93040" y="5088636"/>
            <a:ext cx="4800600" cy="905256"/>
            <a:chOff x="0" y="0"/>
            <a:chExt cx="6400800" cy="12070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98780" y="5335524"/>
            <a:ext cx="411480" cy="411480"/>
            <a:chOff x="0" y="0"/>
            <a:chExt cx="548640" cy="54864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647420" y="5088636"/>
            <a:ext cx="3977640" cy="905256"/>
            <a:chOff x="0" y="0"/>
            <a:chExt cx="5303520" cy="1207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顧客への説明が可能に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93040" y="6158484"/>
            <a:ext cx="4800600" cy="905256"/>
            <a:chOff x="0" y="0"/>
            <a:chExt cx="6400800" cy="12070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098780" y="6405372"/>
            <a:ext cx="411480" cy="411480"/>
            <a:chOff x="0" y="0"/>
            <a:chExt cx="548640" cy="54864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647420" y="6158484"/>
            <a:ext cx="3977640" cy="905256"/>
            <a:chOff x="0" y="0"/>
            <a:chExt cx="5303520" cy="12070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推論が速く deploy しやすい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7680960"/>
            <a:ext cx="16322040" cy="1577340"/>
            <a:chOff x="0" y="0"/>
            <a:chExt cx="21762720" cy="2103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627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883664"/>
                  </a:lnTo>
                  <a:cubicBezTo>
                    <a:pt x="21762720" y="2004822"/>
                    <a:pt x="21664422" y="2103120"/>
                    <a:pt x="21543263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71600" y="7680960"/>
            <a:ext cx="15499080" cy="1577340"/>
            <a:chOff x="0" y="0"/>
            <a:chExt cx="20665440" cy="2103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6654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066544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 b="true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核心アイデア：</a:t>
              </a:r>
              <a:r>
                <a:rPr lang="en-US" sz="255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32,000 rule の大半は冗長。 </a:t>
              </a:r>
              <a:r>
                <a:rPr lang="en-US" sz="255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K個（10〜20）の最良 rule を選び、重みを付け直して、元の予測に近づける。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60120" y="2750170"/>
            <a:ext cx="4532802" cy="3895121"/>
          </a:xfrm>
          <a:custGeom>
            <a:avLst/>
            <a:gdLst/>
            <a:ahLst/>
            <a:cxnLst/>
            <a:rect r="r" b="b" t="t" l="l"/>
            <a:pathLst>
              <a:path h="3895121" w="4532802">
                <a:moveTo>
                  <a:pt x="0" y="0"/>
                </a:moveTo>
                <a:lnTo>
                  <a:pt x="4532802" y="0"/>
                </a:lnTo>
                <a:lnTo>
                  <a:pt x="4532802" y="3895120"/>
                </a:lnTo>
                <a:lnTo>
                  <a:pt x="0" y="389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356" t="0" r="-23662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7963650" y="3678732"/>
            <a:ext cx="3977640" cy="905256"/>
            <a:chOff x="0" y="0"/>
            <a:chExt cx="5303520" cy="12070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A &gt;= 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209270" y="3663174"/>
            <a:ext cx="753087" cy="905256"/>
            <a:chOff x="0" y="0"/>
            <a:chExt cx="1004116" cy="12070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4117" cy="1207008"/>
            </a:xfrm>
            <a:custGeom>
              <a:avLst/>
              <a:gdLst/>
              <a:ahLst/>
              <a:cxnLst/>
              <a:rect r="r" b="b" t="t" l="l"/>
              <a:pathLst>
                <a:path h="1207008" w="1004117">
                  <a:moveTo>
                    <a:pt x="0" y="0"/>
                  </a:moveTo>
                  <a:lnTo>
                    <a:pt x="1004117" y="0"/>
                  </a:lnTo>
                  <a:lnTo>
                    <a:pt x="1004117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-428177" b="-3561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004116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7191F"/>
                  </a:solidFill>
                  <a:latin typeface="Noto Sans"/>
                  <a:ea typeface="Noto Sans"/>
                  <a:cs typeface="Noto Sans"/>
                  <a:sym typeface="Noto Sans"/>
                </a:rPr>
                <a:t>r2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963650" y="4599547"/>
            <a:ext cx="3977640" cy="905256"/>
            <a:chOff x="0" y="0"/>
            <a:chExt cx="5303520" cy="12070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A &lt; 3 AND B &lt; 7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209270" y="4583988"/>
            <a:ext cx="753087" cy="905256"/>
            <a:chOff x="0" y="0"/>
            <a:chExt cx="1004116" cy="12070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4117" cy="1207008"/>
            </a:xfrm>
            <a:custGeom>
              <a:avLst/>
              <a:gdLst/>
              <a:ahLst/>
              <a:cxnLst/>
              <a:rect r="r" b="b" t="t" l="l"/>
              <a:pathLst>
                <a:path h="1207008" w="1004117">
                  <a:moveTo>
                    <a:pt x="0" y="0"/>
                  </a:moveTo>
                  <a:lnTo>
                    <a:pt x="1004117" y="0"/>
                  </a:lnTo>
                  <a:lnTo>
                    <a:pt x="1004117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-428177" b="-356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004116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7191F"/>
                  </a:solidFill>
                  <a:latin typeface="Noto Sans"/>
                  <a:ea typeface="Noto Sans"/>
                  <a:cs typeface="Noto Sans"/>
                  <a:sym typeface="Noto Sans"/>
                </a:rPr>
                <a:t>r3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63650" y="5520362"/>
            <a:ext cx="3977640" cy="905256"/>
            <a:chOff x="0" y="0"/>
            <a:chExt cx="5303520" cy="12070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A &lt; 3 AND B &gt;=</a:t>
              </a: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 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09270" y="5504803"/>
            <a:ext cx="753087" cy="905256"/>
            <a:chOff x="0" y="0"/>
            <a:chExt cx="1004116" cy="12070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4117" cy="1207008"/>
            </a:xfrm>
            <a:custGeom>
              <a:avLst/>
              <a:gdLst/>
              <a:ahLst/>
              <a:cxnLst/>
              <a:rect r="r" b="b" t="t" l="l"/>
              <a:pathLst>
                <a:path h="1207008" w="1004117">
                  <a:moveTo>
                    <a:pt x="0" y="0"/>
                  </a:moveTo>
                  <a:lnTo>
                    <a:pt x="1004117" y="0"/>
                  </a:lnTo>
                  <a:lnTo>
                    <a:pt x="1004117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-428177" b="-3561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04116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7191F"/>
                  </a:solidFill>
                  <a:latin typeface="Noto Sans"/>
                  <a:ea typeface="Noto Sans"/>
                  <a:cs typeface="Noto Sans"/>
                  <a:sym typeface="Noto Sans"/>
                </a:rPr>
                <a:t>r4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963650" y="2724549"/>
            <a:ext cx="3977640" cy="905256"/>
            <a:chOff x="0" y="0"/>
            <a:chExt cx="5303520" cy="12070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A &lt; 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209270" y="2708990"/>
            <a:ext cx="753087" cy="905256"/>
            <a:chOff x="0" y="0"/>
            <a:chExt cx="1004116" cy="12070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04117" cy="1207008"/>
            </a:xfrm>
            <a:custGeom>
              <a:avLst/>
              <a:gdLst/>
              <a:ahLst/>
              <a:cxnLst/>
              <a:rect r="r" b="b" t="t" l="l"/>
              <a:pathLst>
                <a:path h="1207008" w="1004117">
                  <a:moveTo>
                    <a:pt x="0" y="0"/>
                  </a:moveTo>
                  <a:lnTo>
                    <a:pt x="1004117" y="0"/>
                  </a:lnTo>
                  <a:lnTo>
                    <a:pt x="1004117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-428177" b="-356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004116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E7191F"/>
                  </a:solidFill>
                  <a:latin typeface="Noto Sans"/>
                  <a:ea typeface="Noto Sans"/>
                  <a:cs typeface="Noto Sans"/>
                  <a:sym typeface="Noto Sans"/>
                </a:rPr>
                <a:t>r1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>
            <a:off x="5918033" y="4780738"/>
            <a:ext cx="808966" cy="0"/>
          </a:xfrm>
          <a:prstGeom prst="line">
            <a:avLst/>
          </a:prstGeom>
          <a:ln cap="flat" w="95250">
            <a:solidFill>
              <a:srgbClr val="1E276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課題：無数の rule から最良の組を選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1988820"/>
            <a:ext cx="11521440" cy="5212080"/>
            <a:chOff x="0" y="0"/>
            <a:chExt cx="15361920" cy="6949440"/>
          </a:xfrm>
        </p:grpSpPr>
        <p:sp>
          <p:nvSpPr>
            <p:cNvPr name="Freeform 11" id="11" descr="assets/d1_problem.png"/>
            <p:cNvSpPr/>
            <p:nvPr/>
          </p:nvSpPr>
          <p:spPr>
            <a:xfrm flipH="false" flipV="false" rot="0">
              <a:off x="0" y="0"/>
              <a:ext cx="15361920" cy="6949440"/>
            </a:xfrm>
            <a:custGeom>
              <a:avLst/>
              <a:gdLst/>
              <a:ahLst/>
              <a:cxnLst/>
              <a:rect r="r" b="b" t="t" l="l"/>
              <a:pathLst>
                <a:path h="694944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6949440"/>
                  </a:lnTo>
                  <a:lnTo>
                    <a:pt x="0" y="6949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" t="0" r="-8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93040" y="2057400"/>
            <a:ext cx="4937760" cy="685800"/>
            <a:chOff x="0" y="0"/>
            <a:chExt cx="658368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36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得られる利点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93040" y="2948940"/>
            <a:ext cx="4800600" cy="905256"/>
            <a:chOff x="0" y="0"/>
            <a:chExt cx="6400800" cy="12070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98780" y="3195828"/>
            <a:ext cx="411480" cy="411480"/>
            <a:chOff x="0" y="0"/>
            <a:chExt cx="548640" cy="54864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647420" y="2948940"/>
            <a:ext cx="3977640" cy="905256"/>
            <a:chOff x="0" y="0"/>
            <a:chExt cx="5303520" cy="12070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モデルが学んだ内容を把握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893040" y="4018788"/>
            <a:ext cx="4800600" cy="905256"/>
            <a:chOff x="0" y="0"/>
            <a:chExt cx="6400800" cy="12070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098780" y="4265676"/>
            <a:ext cx="411480" cy="411480"/>
            <a:chOff x="0" y="0"/>
            <a:chExt cx="548640" cy="54864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647420" y="4018788"/>
            <a:ext cx="3977640" cy="905256"/>
            <a:chOff x="0" y="0"/>
            <a:chExt cx="5303520" cy="12070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誤った rule・過学習を発見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93040" y="5088636"/>
            <a:ext cx="4800600" cy="905256"/>
            <a:chOff x="0" y="0"/>
            <a:chExt cx="6400800" cy="12070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098780" y="5335524"/>
            <a:ext cx="411480" cy="411480"/>
            <a:chOff x="0" y="0"/>
            <a:chExt cx="548640" cy="54864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47420" y="5088636"/>
            <a:ext cx="3977640" cy="905256"/>
            <a:chOff x="0" y="0"/>
            <a:chExt cx="5303520" cy="12070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顧客への説明が可能に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93040" y="6158484"/>
            <a:ext cx="4800600" cy="905256"/>
            <a:chOff x="0" y="0"/>
            <a:chExt cx="6400800" cy="12070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08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400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254496" y="0"/>
                  </a:lnTo>
                  <a:cubicBezTo>
                    <a:pt x="6335268" y="0"/>
                    <a:pt x="6400800" y="65532"/>
                    <a:pt x="6400800" y="146304"/>
                  </a:cubicBezTo>
                  <a:lnTo>
                    <a:pt x="6400800" y="1060704"/>
                  </a:lnTo>
                  <a:cubicBezTo>
                    <a:pt x="6400800" y="1141476"/>
                    <a:pt x="6335268" y="1207008"/>
                    <a:pt x="6254496" y="1207008"/>
                  </a:cubicBezTo>
                  <a:lnTo>
                    <a:pt x="146304" y="1207008"/>
                  </a:lnTo>
                  <a:cubicBezTo>
                    <a:pt x="65532" y="1207008"/>
                    <a:pt x="0" y="1141476"/>
                    <a:pt x="0" y="106070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098780" y="6405372"/>
            <a:ext cx="411480" cy="411480"/>
            <a:chOff x="0" y="0"/>
            <a:chExt cx="548640" cy="54864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647420" y="6158484"/>
            <a:ext cx="3977640" cy="905256"/>
            <a:chOff x="0" y="0"/>
            <a:chExt cx="5303520" cy="12070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616" r="0" b="-3561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303520" cy="1207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22A45"/>
                  </a:solidFill>
                  <a:latin typeface="Noto Sans"/>
                  <a:ea typeface="Noto Sans"/>
                  <a:cs typeface="Noto Sans"/>
                  <a:sym typeface="Noto Sans"/>
                </a:rPr>
                <a:t>推論が速く deploy しやすい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" y="7680960"/>
            <a:ext cx="16322040" cy="1577340"/>
            <a:chOff x="0" y="0"/>
            <a:chExt cx="21762720" cy="2103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627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17627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543263" y="0"/>
                  </a:lnTo>
                  <a:cubicBezTo>
                    <a:pt x="21664422" y="0"/>
                    <a:pt x="21762720" y="98298"/>
                    <a:pt x="21762720" y="219456"/>
                  </a:cubicBezTo>
                  <a:lnTo>
                    <a:pt x="21762720" y="1883664"/>
                  </a:lnTo>
                  <a:cubicBezTo>
                    <a:pt x="21762720" y="2004822"/>
                    <a:pt x="21664422" y="2103120"/>
                    <a:pt x="21543263" y="2103120"/>
                  </a:cubicBezTo>
                  <a:lnTo>
                    <a:pt x="219456" y="2103120"/>
                  </a:lnTo>
                  <a:cubicBezTo>
                    <a:pt x="98298" y="2103120"/>
                    <a:pt x="0" y="2004822"/>
                    <a:pt x="0" y="188366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71600" y="7680960"/>
            <a:ext cx="15499080" cy="1577340"/>
            <a:chOff x="0" y="0"/>
            <a:chExt cx="20665440" cy="2103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6654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0665440" cy="2150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9"/>
                </a:lnSpc>
              </a:pPr>
              <a:r>
                <a:rPr lang="en-US" sz="2550" b="true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核心アイデア：</a:t>
              </a:r>
              <a:r>
                <a:rPr lang="en-US" sz="2550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32,000 rule の大半は冗長。 </a:t>
              </a:r>
              <a:r>
                <a:rPr lang="en-US" sz="255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K個（10〜20）の最良 rule を選び、重みを付け直して、元の予測に近づける。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解決アイデア：3つの Layer と Layer 1（モデル化）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45890" y="1896172"/>
            <a:ext cx="7612380" cy="3634740"/>
            <a:chOff x="0" y="0"/>
            <a:chExt cx="10149840" cy="4846320"/>
          </a:xfrm>
        </p:grpSpPr>
        <p:sp>
          <p:nvSpPr>
            <p:cNvPr name="Freeform 11" id="11" descr="assets/d2_overview.png"/>
            <p:cNvSpPr/>
            <p:nvPr/>
          </p:nvSpPr>
          <p:spPr>
            <a:xfrm flipH="false" flipV="false" rot="0">
              <a:off x="0" y="0"/>
              <a:ext cx="10149840" cy="4846320"/>
            </a:xfrm>
            <a:custGeom>
              <a:avLst/>
              <a:gdLst/>
              <a:ahLst/>
              <a:cxnLst/>
              <a:rect r="r" b="b" t="t" l="l"/>
              <a:pathLst>
                <a:path h="4846320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4846320"/>
                  </a:lnTo>
                  <a:lnTo>
                    <a:pt x="0" y="4846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15" t="0" r="-31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5890" y="5599492"/>
            <a:ext cx="7543800" cy="548640"/>
            <a:chOff x="0" y="0"/>
            <a:chExt cx="100584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00584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8A93AD"/>
                  </a:solidFill>
                  <a:latin typeface="Noto Sans Italics"/>
                  <a:ea typeface="Noto Sans Italics"/>
                  <a:cs typeface="Noto Sans Italics"/>
                  <a:sym typeface="Noto Sans Italics"/>
                </a:rPr>
                <a:t>全体像：3 Layer で構成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9046" y="2198474"/>
            <a:ext cx="8915400" cy="4183380"/>
            <a:chOff x="0" y="0"/>
            <a:chExt cx="11887200" cy="5577840"/>
          </a:xfrm>
        </p:grpSpPr>
        <p:sp>
          <p:nvSpPr>
            <p:cNvPr name="Freeform 16" id="16" descr="assets/d3_layer1.png"/>
            <p:cNvSpPr/>
            <p:nvPr/>
          </p:nvSpPr>
          <p:spPr>
            <a:xfrm flipH="false" flipV="false" rot="0">
              <a:off x="0" y="0"/>
              <a:ext cx="11887200" cy="5577840"/>
            </a:xfrm>
            <a:custGeom>
              <a:avLst/>
              <a:gdLst/>
              <a:ahLst/>
              <a:cxnLst/>
              <a:rect r="r" b="b" t="t" l="l"/>
              <a:pathLst>
                <a:path h="557784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2" t="0" r="-282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" y="6652260"/>
            <a:ext cx="16802100" cy="2811780"/>
            <a:chOff x="0" y="0"/>
            <a:chExt cx="22402800" cy="3749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028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224028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2183344" y="0"/>
                  </a:lnTo>
                  <a:cubicBezTo>
                    <a:pt x="22304502" y="0"/>
                    <a:pt x="22402800" y="98298"/>
                    <a:pt x="22402800" y="219456"/>
                  </a:cubicBezTo>
                  <a:lnTo>
                    <a:pt x="22402800" y="3529584"/>
                  </a:lnTo>
                  <a:cubicBezTo>
                    <a:pt x="22402800" y="3650742"/>
                    <a:pt x="22304502" y="3749040"/>
                    <a:pt x="2218334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" y="6858000"/>
            <a:ext cx="5486400" cy="617220"/>
            <a:chOff x="0" y="0"/>
            <a:chExt cx="731520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822960"/>
            </a:xfrm>
            <a:custGeom>
              <a:avLst/>
              <a:gdLst/>
              <a:ahLst/>
              <a:cxnLst/>
              <a:rect r="r" b="b" t="t" l="l"/>
              <a:pathLst>
                <a:path h="822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315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3つの制約条件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" y="7543800"/>
            <a:ext cx="3909060" cy="1645920"/>
            <a:chOff x="0" y="0"/>
            <a:chExt cx="521208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2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011680"/>
                  </a:lnTo>
                  <a:cubicBezTo>
                    <a:pt x="5212080" y="2112645"/>
                    <a:pt x="5130165" y="2194560"/>
                    <a:pt x="5029200" y="2194560"/>
                  </a:cubicBezTo>
                  <a:lnTo>
                    <a:pt x="182880" y="2194560"/>
                  </a:lnTo>
                  <a:cubicBezTo>
                    <a:pt x="81915" y="2194560"/>
                    <a:pt x="0" y="2112645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12748" y="7708392"/>
            <a:ext cx="3429000" cy="548640"/>
            <a:chOff x="0" y="0"/>
            <a:chExt cx="45720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57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7F77DD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  Rule が有効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12748" y="8257032"/>
            <a:ext cx="349758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22A45"/>
                </a:solidFill>
                <a:latin typeface="Noto Sans"/>
                <a:ea typeface="Noto Sans"/>
                <a:cs typeface="Noto Sans"/>
                <a:sym typeface="Noto Sans"/>
              </a:rPr>
              <a:t>子・孫 node は選ばない（重複防止）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349240" y="7543800"/>
            <a:ext cx="3909060" cy="1645920"/>
            <a:chOff x="0" y="0"/>
            <a:chExt cx="521208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2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011680"/>
                  </a:lnTo>
                  <a:cubicBezTo>
                    <a:pt x="5212080" y="2112645"/>
                    <a:pt x="5130165" y="2194560"/>
                    <a:pt x="5029200" y="2194560"/>
                  </a:cubicBezTo>
                  <a:lnTo>
                    <a:pt x="182880" y="2194560"/>
                  </a:lnTo>
                  <a:cubicBezTo>
                    <a:pt x="81915" y="2194560"/>
                    <a:pt x="0" y="2112645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596128" y="7708392"/>
            <a:ext cx="3429000" cy="548640"/>
            <a:chOff x="0" y="0"/>
            <a:chExt cx="457200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57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  予算 K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596128" y="8257032"/>
            <a:ext cx="34975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22A45"/>
                </a:solidFill>
                <a:latin typeface="Noto Sans"/>
                <a:ea typeface="Noto Sans"/>
                <a:cs typeface="Noto Sans"/>
                <a:sym typeface="Noto Sans"/>
              </a:rPr>
              <a:t>選ぶ rule の総数を制限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32620" y="7543800"/>
            <a:ext cx="3909060" cy="1645920"/>
            <a:chOff x="0" y="0"/>
            <a:chExt cx="521208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011680"/>
                  </a:lnTo>
                  <a:cubicBezTo>
                    <a:pt x="5212080" y="2112645"/>
                    <a:pt x="5130165" y="2194560"/>
                    <a:pt x="5029200" y="2194560"/>
                  </a:cubicBezTo>
                  <a:lnTo>
                    <a:pt x="182880" y="2194560"/>
                  </a:lnTo>
                  <a:cubicBezTo>
                    <a:pt x="81915" y="2194560"/>
                    <a:pt x="0" y="2112645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79508" y="7708392"/>
            <a:ext cx="3429000" cy="548640"/>
            <a:chOff x="0" y="0"/>
            <a:chExt cx="45720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572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8744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  変数の整合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79508" y="8257032"/>
            <a:ext cx="34975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22A45"/>
                </a:solidFill>
                <a:latin typeface="Noto Sans"/>
                <a:ea typeface="Noto Sans"/>
                <a:cs typeface="Noto Sans"/>
                <a:sym typeface="Noto Sans"/>
              </a:rPr>
              <a:t>z=0 なら w=0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853160" y="7543800"/>
            <a:ext cx="3497580" cy="1645920"/>
            <a:chOff x="0" y="0"/>
            <a:chExt cx="4663440" cy="21945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2011680"/>
                  </a:lnTo>
                  <a:cubicBezTo>
                    <a:pt x="4663440" y="2112645"/>
                    <a:pt x="4581525" y="2194560"/>
                    <a:pt x="4480560" y="2194560"/>
                  </a:cubicBezTo>
                  <a:lnTo>
                    <a:pt x="182880" y="2194560"/>
                  </a:lnTo>
                  <a:cubicBezTo>
                    <a:pt x="81915" y="2194560"/>
                    <a:pt x="0" y="2112645"/>
                    <a:pt x="0" y="201168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853160" y="7543800"/>
            <a:ext cx="3497580" cy="1645920"/>
            <a:chOff x="0" y="0"/>
            <a:chExt cx="466344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634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0378" t="0" r="-10378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66344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2"/>
                </a:lnSpc>
              </a:pPr>
              <a:r>
                <a:rPr lang="en-US" sz="2100" b="true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= MIP</a:t>
              </a:r>
            </a:p>
            <a:p>
              <a:pPr algn="ctr">
                <a:lnSpc>
                  <a:spcPts val="2772"/>
                </a:lnSpc>
              </a:pPr>
              <a:r>
                <a:rPr lang="en-US" sz="21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解くのが難しい問題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解決アイデア：Layer 2（簡略化）と Layer 3（探索）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057400"/>
            <a:ext cx="3429000" cy="617220"/>
            <a:chOff x="0" y="0"/>
            <a:chExt cx="457200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822960"/>
            </a:xfrm>
            <a:custGeom>
              <a:avLst/>
              <a:gdLst/>
              <a:ahLst/>
              <a:cxnLst/>
              <a:rect r="r" b="b" t="t" l="l"/>
              <a:pathLst>
                <a:path h="822960" w="4572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389120" y="0"/>
                  </a:lnTo>
                  <a:cubicBezTo>
                    <a:pt x="4490085" y="0"/>
                    <a:pt x="4572000" y="81915"/>
                    <a:pt x="4572000" y="182880"/>
                  </a:cubicBezTo>
                  <a:lnTo>
                    <a:pt x="4572000" y="640080"/>
                  </a:lnTo>
                  <a:cubicBezTo>
                    <a:pt x="4572000" y="741045"/>
                    <a:pt x="4490085" y="822960"/>
                    <a:pt x="4389120" y="822960"/>
                  </a:cubicBezTo>
                  <a:lnTo>
                    <a:pt x="182880" y="822960"/>
                  </a:lnTo>
                  <a:cubicBezTo>
                    <a:pt x="81915" y="822960"/>
                    <a:pt x="0" y="741045"/>
                    <a:pt x="0" y="640080"/>
                  </a:cubicBezTo>
                  <a:close/>
                </a:path>
              </a:pathLst>
            </a:custGeom>
            <a:solidFill>
              <a:srgbClr val="E8F0F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2057400"/>
            <a:ext cx="3429000" cy="617220"/>
            <a:chOff x="0" y="0"/>
            <a:chExt cx="457200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822960"/>
            </a:xfrm>
            <a:custGeom>
              <a:avLst/>
              <a:gdLst/>
              <a:ahLst/>
              <a:cxnLst/>
              <a:rect r="r" b="b" t="t" l="l"/>
              <a:pathLst>
                <a:path h="8229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5720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Layer 2 — 簡略化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20" y="2811780"/>
            <a:ext cx="8778240" cy="3950208"/>
            <a:chOff x="0" y="0"/>
            <a:chExt cx="11704320" cy="5266944"/>
          </a:xfrm>
        </p:grpSpPr>
        <p:sp>
          <p:nvSpPr>
            <p:cNvPr name="Freeform 16" id="16" descr="assets/d5_layer2.png"/>
            <p:cNvSpPr/>
            <p:nvPr/>
          </p:nvSpPr>
          <p:spPr>
            <a:xfrm flipH="false" flipV="false" rot="0">
              <a:off x="0" y="0"/>
              <a:ext cx="11704320" cy="5266944"/>
            </a:xfrm>
            <a:custGeom>
              <a:avLst/>
              <a:gdLst/>
              <a:ahLst/>
              <a:cxnLst/>
              <a:rect r="r" b="b" t="t" l="l"/>
              <a:pathLst>
                <a:path h="526694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5266944"/>
                  </a:lnTo>
                  <a:lnTo>
                    <a:pt x="0" y="5266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69780" y="2057400"/>
            <a:ext cx="3703320" cy="617220"/>
            <a:chOff x="0" y="0"/>
            <a:chExt cx="493776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754880" y="0"/>
                  </a:lnTo>
                  <a:cubicBezTo>
                    <a:pt x="4855845" y="0"/>
                    <a:pt x="4937760" y="81915"/>
                    <a:pt x="4937760" y="182880"/>
                  </a:cubicBezTo>
                  <a:lnTo>
                    <a:pt x="4937760" y="640080"/>
                  </a:lnTo>
                  <a:cubicBezTo>
                    <a:pt x="4937760" y="741045"/>
                    <a:pt x="4855845" y="822960"/>
                    <a:pt x="4754880" y="822960"/>
                  </a:cubicBezTo>
                  <a:lnTo>
                    <a:pt x="182880" y="822960"/>
                  </a:lnTo>
                  <a:cubicBezTo>
                    <a:pt x="81915" y="822960"/>
                    <a:pt x="0" y="741045"/>
                    <a:pt x="0" y="640080"/>
                  </a:cubicBezTo>
                  <a:close/>
                </a:path>
              </a:pathLst>
            </a:custGeom>
            <a:solidFill>
              <a:srgbClr val="FBEFE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780" y="2057400"/>
            <a:ext cx="3703320" cy="617220"/>
            <a:chOff x="0" y="0"/>
            <a:chExt cx="4937760" cy="822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9377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A8482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Layer 3 — 探索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95460" y="2811780"/>
            <a:ext cx="8298180" cy="3730752"/>
            <a:chOff x="0" y="0"/>
            <a:chExt cx="11064240" cy="4974336"/>
          </a:xfrm>
        </p:grpSpPr>
        <p:sp>
          <p:nvSpPr>
            <p:cNvPr name="Freeform 23" id="23" descr="assets/d6_layer3.png"/>
            <p:cNvSpPr/>
            <p:nvPr/>
          </p:nvSpPr>
          <p:spPr>
            <a:xfrm flipH="false" flipV="false" rot="0">
              <a:off x="0" y="0"/>
              <a:ext cx="11064240" cy="4974336"/>
            </a:xfrm>
            <a:custGeom>
              <a:avLst/>
              <a:gdLst/>
              <a:ahLst/>
              <a:cxnLst/>
              <a:rect r="r" b="b" t="t" l="l"/>
              <a:pathLst>
                <a:path h="4974336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4974336"/>
                  </a:lnTo>
                  <a:lnTo>
                    <a:pt x="0" y="4974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1" r="0" b="-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6652260"/>
            <a:ext cx="8161020" cy="685800"/>
            <a:chOff x="0" y="0"/>
            <a:chExt cx="1088136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81361" cy="914400"/>
            </a:xfrm>
            <a:custGeom>
              <a:avLst/>
              <a:gdLst/>
              <a:ahLst/>
              <a:cxnLst/>
              <a:rect r="r" b="b" t="t" l="l"/>
              <a:pathLst>
                <a:path h="91440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768096"/>
                  </a:lnTo>
                  <a:cubicBezTo>
                    <a:pt x="10881361" y="848868"/>
                    <a:pt x="10815828" y="914400"/>
                    <a:pt x="1073505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E8F0F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6652260"/>
            <a:ext cx="8161020" cy="685800"/>
            <a:chOff x="0" y="0"/>
            <a:chExt cx="1088136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81360" cy="914400"/>
            </a:xfrm>
            <a:custGeom>
              <a:avLst/>
              <a:gdLst/>
              <a:ahLst/>
              <a:cxnLst/>
              <a:rect r="r" b="b" t="t" l="l"/>
              <a:pathLst>
                <a:path h="91440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8813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1E2761"/>
                  </a:solidFill>
                  <a:latin typeface="Noto Sans"/>
                  <a:ea typeface="Noto Sans"/>
                  <a:cs typeface="Noto Sans"/>
                  <a:sym typeface="Noto Sans"/>
                </a:rPr>
                <a:t>2変数 → 1変数。重みは公式で自動算出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32620" y="6652260"/>
            <a:ext cx="8023860" cy="685800"/>
            <a:chOff x="0" y="0"/>
            <a:chExt cx="1069848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768096"/>
                  </a:lnTo>
                  <a:cubicBezTo>
                    <a:pt x="10698480" y="848868"/>
                    <a:pt x="10632948" y="914400"/>
                    <a:pt x="1055217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FBEFE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32620" y="6652260"/>
            <a:ext cx="8023860" cy="685800"/>
            <a:chOff x="0" y="0"/>
            <a:chExt cx="1069848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9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7974" r="0" b="-17797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0698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>
                  <a:solidFill>
                    <a:srgbClr val="A8482A"/>
                  </a:solidFill>
                  <a:latin typeface="Noto Sans"/>
                  <a:ea typeface="Noto Sans"/>
                  <a:cs typeface="Noto Sans"/>
                  <a:sym typeface="Noto Sans"/>
                </a:rPr>
                <a:t>毎回ダメ領域を除外 → 最適を保証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7475220"/>
            <a:ext cx="16596360" cy="1851660"/>
            <a:chOff x="0" y="0"/>
            <a:chExt cx="22128480" cy="2468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1284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284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09024" y="0"/>
                  </a:lnTo>
                  <a:cubicBezTo>
                    <a:pt x="22030182" y="0"/>
                    <a:pt x="22128480" y="98298"/>
                    <a:pt x="22128480" y="219456"/>
                  </a:cubicBezTo>
                  <a:lnTo>
                    <a:pt x="22128480" y="2249424"/>
                  </a:lnTo>
                  <a:cubicBezTo>
                    <a:pt x="22128480" y="2370582"/>
                    <a:pt x="22030182" y="2468880"/>
                    <a:pt x="219090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03020" y="8119872"/>
            <a:ext cx="617220" cy="617220"/>
            <a:chOff x="0" y="0"/>
            <a:chExt cx="822960" cy="82296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125980" y="7475220"/>
            <a:ext cx="15087600" cy="1851660"/>
            <a:chOff x="0" y="0"/>
            <a:chExt cx="20116800" cy="2468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1680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766" r="0" b="-10876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116800" cy="2526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26"/>
                </a:lnSpc>
              </a:pPr>
              <a:r>
                <a:rPr lang="en-US" sz="27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当てずっぽうではなく、毎回ダメな領域を除外 → 最良の rule の組を、速く・確実に見つける。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5685282"/>
            <a:ext cx="8062948" cy="966978"/>
            <a:chOff x="0" y="0"/>
            <a:chExt cx="2123575" cy="25467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3575" cy="254677"/>
            </a:xfrm>
            <a:custGeom>
              <a:avLst/>
              <a:gdLst/>
              <a:ahLst/>
              <a:cxnLst/>
              <a:rect r="r" b="b" t="t" l="l"/>
              <a:pathLst>
                <a:path h="254677" w="2123575">
                  <a:moveTo>
                    <a:pt x="0" y="0"/>
                  </a:moveTo>
                  <a:lnTo>
                    <a:pt x="2123575" y="0"/>
                  </a:lnTo>
                  <a:lnTo>
                    <a:pt x="2123575" y="254677"/>
                  </a:lnTo>
                  <a:lnTo>
                    <a:pt x="0" y="25467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123575" cy="25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結果：速度と精度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2057400"/>
            <a:ext cx="12344400" cy="5554980"/>
            <a:chOff x="0" y="0"/>
            <a:chExt cx="16459200" cy="7406640"/>
          </a:xfrm>
        </p:grpSpPr>
        <p:sp>
          <p:nvSpPr>
            <p:cNvPr name="Freeform 11" id="11" descr="assets/d7_results.png"/>
            <p:cNvSpPr/>
            <p:nvPr/>
          </p:nvSpPr>
          <p:spPr>
            <a:xfrm flipH="false" flipV="false" rot="0">
              <a:off x="0" y="0"/>
              <a:ext cx="16459200" cy="7406640"/>
            </a:xfrm>
            <a:custGeom>
              <a:avLst/>
              <a:gdLst/>
              <a:ahLst/>
              <a:cxnLst/>
              <a:rect r="r" b="b" t="t" l="l"/>
              <a:pathLst>
                <a:path h="74066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406640"/>
                  </a:lnTo>
                  <a:lnTo>
                    <a:pt x="0" y="740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47420" y="2125980"/>
            <a:ext cx="4046220" cy="5486400"/>
            <a:chOff x="0" y="0"/>
            <a:chExt cx="5394960" cy="731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496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949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175504" y="0"/>
                  </a:lnTo>
                  <a:cubicBezTo>
                    <a:pt x="5296662" y="0"/>
                    <a:pt x="5394960" y="98298"/>
                    <a:pt x="5394960" y="219456"/>
                  </a:cubicBezTo>
                  <a:lnTo>
                    <a:pt x="5394960" y="7095744"/>
                  </a:lnTo>
                  <a:cubicBezTo>
                    <a:pt x="5394960" y="7216901"/>
                    <a:pt x="5296662" y="7315200"/>
                    <a:pt x="5175504" y="7315200"/>
                  </a:cubicBezTo>
                  <a:lnTo>
                    <a:pt x="219456" y="7315200"/>
                  </a:lnTo>
                  <a:cubicBezTo>
                    <a:pt x="98298" y="7315200"/>
                    <a:pt x="0" y="7216902"/>
                    <a:pt x="0" y="709574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921740" y="2400300"/>
            <a:ext cx="3566160" cy="548640"/>
            <a:chOff x="0" y="0"/>
            <a:chExt cx="47548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754880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Case Study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921740" y="3007995"/>
            <a:ext cx="356616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8A93AD"/>
                </a:solidFill>
                <a:latin typeface="Noto Sans"/>
                <a:ea typeface="Noto Sans"/>
                <a:cs typeface="Noto Sans"/>
                <a:sym typeface="Noto Sans"/>
              </a:rPr>
              <a:t>MIMIC-III（ICU 医療データ）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921740" y="3909060"/>
            <a:ext cx="3497580" cy="1371600"/>
            <a:chOff x="0" y="0"/>
            <a:chExt cx="466344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1645920"/>
                  </a:lnTo>
                  <a:cubicBezTo>
                    <a:pt x="4663440" y="1746885"/>
                    <a:pt x="4581525" y="1828800"/>
                    <a:pt x="4480560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921740" y="4046220"/>
            <a:ext cx="3497580" cy="1165860"/>
            <a:chOff x="0" y="0"/>
            <a:chExt cx="466344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63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66344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8A93AD"/>
                  </a:solidFill>
                  <a:latin typeface="Noto Sans"/>
                  <a:ea typeface="Noto Sans"/>
                  <a:cs typeface="Noto Sans"/>
                  <a:sym typeface="Noto Sans"/>
                </a:rPr>
                <a:t>GBDT 1000本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22A45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R² = 0.32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21740" y="5486400"/>
            <a:ext cx="3497580" cy="1371600"/>
            <a:chOff x="0" y="0"/>
            <a:chExt cx="466344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3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1645920"/>
                  </a:lnTo>
                  <a:cubicBezTo>
                    <a:pt x="4663440" y="1746885"/>
                    <a:pt x="4581525" y="1828800"/>
                    <a:pt x="4480560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EAFBF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21740" y="5623560"/>
            <a:ext cx="3497580" cy="1165860"/>
            <a:chOff x="0" y="0"/>
            <a:chExt cx="466344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34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66344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0F6E56"/>
                  </a:solidFill>
                  <a:latin typeface="Noto Sans"/>
                  <a:ea typeface="Noto Sans"/>
                  <a:cs typeface="Noto Sans"/>
                  <a:sym typeface="Noto Sans"/>
                </a:rPr>
                <a:t>抽出 10 rule</a:t>
              </a:r>
            </a:p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F6E56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R² = 0.31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921740" y="6926580"/>
            <a:ext cx="3497580" cy="548640"/>
            <a:chOff x="0" y="0"/>
            <a:chExt cx="466344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63440" cy="731520"/>
            </a:xfrm>
            <a:custGeom>
              <a:avLst/>
              <a:gdLst/>
              <a:ahLst/>
              <a:cxnLst/>
              <a:rect r="r" b="b" t="t" l="l"/>
              <a:pathLst>
                <a:path h="73152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4217" r="0" b="-742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6634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i="true">
                  <a:solidFill>
                    <a:srgbClr val="8A93AD"/>
                  </a:solidFill>
                  <a:latin typeface="Noto Sans Italics"/>
                  <a:ea typeface="Noto Sans Italics"/>
                  <a:cs typeface="Noto Sans Italics"/>
                  <a:sym typeface="Noto Sans Italics"/>
                </a:rPr>
                <a:t>精度ほぼ維持、手で読める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120" y="8023860"/>
            <a:ext cx="12344400" cy="1165860"/>
            <a:chOff x="0" y="0"/>
            <a:chExt cx="1645920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459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6276320" y="0"/>
                  </a:lnTo>
                  <a:cubicBezTo>
                    <a:pt x="16377284" y="0"/>
                    <a:pt x="16459200" y="81915"/>
                    <a:pt x="16459200" y="182880"/>
                  </a:cubicBezTo>
                  <a:lnTo>
                    <a:pt x="16459200" y="1371600"/>
                  </a:lnTo>
                  <a:cubicBezTo>
                    <a:pt x="16459200" y="1472565"/>
                    <a:pt x="16377284" y="1554480"/>
                    <a:pt x="1627632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3020" y="8023860"/>
            <a:ext cx="11795760" cy="1165860"/>
            <a:chOff x="0" y="0"/>
            <a:chExt cx="1572768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572768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BB3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用語： </a:t>
              </a:r>
              <a:r>
                <a:rPr lang="en-US" sz="21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Gurobi / MOSEK = 業界最高水準の商用最適化ソルバー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DCFC"/>
                  </a:solidFill>
                  <a:latin typeface="Noto Sans"/>
                  <a:ea typeface="Noto Sans"/>
                  <a:cs typeface="Noto Sans"/>
                  <a:sym typeface="Noto Sans"/>
                </a:rPr>
                <a:t>FIRE = 従来の最良 rule 抽出手法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713232"/>
                  </a:moveTo>
                  <a:cubicBezTo>
                    <a:pt x="0" y="319278"/>
                    <a:pt x="319278" y="0"/>
                    <a:pt x="713232" y="0"/>
                  </a:cubicBezTo>
                  <a:cubicBezTo>
                    <a:pt x="1107186" y="0"/>
                    <a:pt x="1426464" y="319278"/>
                    <a:pt x="1426464" y="713232"/>
                  </a:cubicBezTo>
                  <a:cubicBezTo>
                    <a:pt x="1426464" y="1107186"/>
                    <a:pt x="1107186" y="1426464"/>
                    <a:pt x="713232" y="1426464"/>
                  </a:cubicBezTo>
                  <a:cubicBezTo>
                    <a:pt x="319278" y="1426464"/>
                    <a:pt x="0" y="1107186"/>
                    <a:pt x="0" y="713232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1069848" cy="1069848"/>
            <a:chOff x="0" y="0"/>
            <a:chExt cx="1426464" cy="14264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464" cy="1426464"/>
            </a:xfrm>
            <a:custGeom>
              <a:avLst/>
              <a:gdLst/>
              <a:ahLst/>
              <a:cxnLst/>
              <a:rect r="r" b="b" t="t" l="l"/>
              <a:pathLst>
                <a:path h="1426464" w="1426464">
                  <a:moveTo>
                    <a:pt x="0" y="0"/>
                  </a:moveTo>
                  <a:lnTo>
                    <a:pt x="1426464" y="0"/>
                  </a:lnTo>
                  <a:lnTo>
                    <a:pt x="1426464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426464" cy="1426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25980" y="617220"/>
            <a:ext cx="15087600" cy="1097280"/>
            <a:chOff x="0" y="0"/>
            <a:chExt cx="201168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116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1168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Skope-rules との比較：本当に改善できる点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1988820"/>
            <a:ext cx="11384280" cy="5280660"/>
            <a:chOff x="0" y="0"/>
            <a:chExt cx="15179040" cy="7040880"/>
          </a:xfrm>
        </p:grpSpPr>
        <p:sp>
          <p:nvSpPr>
            <p:cNvPr name="Freeform 11" id="11" descr="assets/d8_compare.png"/>
            <p:cNvSpPr/>
            <p:nvPr/>
          </p:nvSpPr>
          <p:spPr>
            <a:xfrm flipH="false" flipV="false" rot="0">
              <a:off x="0" y="0"/>
              <a:ext cx="15179039" cy="7040880"/>
            </a:xfrm>
            <a:custGeom>
              <a:avLst/>
              <a:gdLst/>
              <a:ahLst/>
              <a:cxnLst/>
              <a:rect r="r" b="b" t="t" l="l"/>
              <a:pathLst>
                <a:path h="70408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5" r="0" b="-29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755880" y="2057400"/>
            <a:ext cx="4937760" cy="617220"/>
            <a:chOff x="0" y="0"/>
            <a:chExt cx="658368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822960"/>
            </a:xfrm>
            <a:custGeom>
              <a:avLst/>
              <a:gdLst/>
              <a:ahLst/>
              <a:cxnLst/>
              <a:rect r="r" b="b" t="t" l="l"/>
              <a:pathLst>
                <a:path h="8229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368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1E276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改善ポイント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55880" y="2811780"/>
            <a:ext cx="4937760" cy="2125980"/>
            <a:chOff x="0" y="0"/>
            <a:chExt cx="6583680" cy="2834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836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6583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364224" y="0"/>
                  </a:lnTo>
                  <a:cubicBezTo>
                    <a:pt x="6485382" y="0"/>
                    <a:pt x="6583680" y="98298"/>
                    <a:pt x="6583680" y="219456"/>
                  </a:cubicBezTo>
                  <a:lnTo>
                    <a:pt x="6583680" y="2615184"/>
                  </a:lnTo>
                  <a:cubicBezTo>
                    <a:pt x="6583680" y="2736342"/>
                    <a:pt x="6485382" y="2834640"/>
                    <a:pt x="63642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EAFBF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30200" y="2979420"/>
            <a:ext cx="4457700" cy="107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0F6E56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① rule 数を正確に制御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222A45"/>
                </a:solidFill>
                <a:latin typeface="Noto Sans"/>
                <a:ea typeface="Noto Sans"/>
                <a:cs typeface="Noto Sans"/>
                <a:sym typeface="Noto Sans"/>
              </a:rPr>
              <a:t>K=10 と直接指定でき、最良の K rule を保証。閾値の試行錯誤が不要。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55880" y="5212080"/>
            <a:ext cx="4937760" cy="2400300"/>
            <a:chOff x="0" y="0"/>
            <a:chExt cx="6583680" cy="320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3200400"/>
            </a:xfrm>
            <a:custGeom>
              <a:avLst/>
              <a:gdLst/>
              <a:ahLst/>
              <a:cxnLst/>
              <a:rect r="r" b="b" t="t" l="l"/>
              <a:pathLst>
                <a:path h="3200400" w="65836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364224" y="0"/>
                  </a:lnTo>
                  <a:cubicBezTo>
                    <a:pt x="6485382" y="0"/>
                    <a:pt x="6583680" y="98298"/>
                    <a:pt x="6583680" y="219456"/>
                  </a:cubicBezTo>
                  <a:lnTo>
                    <a:pt x="6583680" y="2980944"/>
                  </a:lnTo>
                  <a:cubicBezTo>
                    <a:pt x="6583680" y="3102102"/>
                    <a:pt x="6485382" y="3200400"/>
                    <a:pt x="6364224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BEFE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030200" y="5379720"/>
            <a:ext cx="4457700" cy="140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400" b="true">
                <a:solidFill>
                  <a:srgbClr val="A8482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② rule の深さを制御</a:t>
            </a:r>
          </a:p>
          <a:p>
            <a:pPr algn="l">
              <a:lnSpc>
                <a:spcPts val="2690"/>
              </a:lnSpc>
            </a:pPr>
            <a:r>
              <a:rPr lang="en-US" sz="1950">
                <a:solidFill>
                  <a:srgbClr val="222A45"/>
                </a:solidFill>
                <a:latin typeface="Noto Sans"/>
                <a:ea typeface="Noto Sans"/>
                <a:cs typeface="Noto Sans"/>
                <a:sym typeface="Noto Sans"/>
              </a:rPr>
              <a:t>depth/feature-weighting で短い rule を最適化中に強制。production の rule-engine に載せやすい。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0120" y="7680960"/>
            <a:ext cx="11384280" cy="1508760"/>
            <a:chOff x="0" y="0"/>
            <a:chExt cx="1517904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17904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51790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4959585" y="0"/>
                  </a:lnTo>
                  <a:cubicBezTo>
                    <a:pt x="15080743" y="0"/>
                    <a:pt x="15179041" y="98298"/>
                    <a:pt x="15179041" y="219456"/>
                  </a:cubicBezTo>
                  <a:lnTo>
                    <a:pt x="15179041" y="1792224"/>
                  </a:lnTo>
                  <a:cubicBezTo>
                    <a:pt x="15179041" y="1913382"/>
                    <a:pt x="15080743" y="2011680"/>
                    <a:pt x="14959585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EEF1F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7680960"/>
            <a:ext cx="10835640" cy="1508760"/>
            <a:chOff x="0" y="0"/>
            <a:chExt cx="1444752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47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938" r="0" b="-8993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447520" cy="2049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DAHN9h7myD8</dc:identifier>
  <dcterms:modified xsi:type="dcterms:W3CDTF">2011-08-01T06:04:30Z</dcterms:modified>
  <cp:revision>1</cp:revision>
  <dc:title>用語： Gurobi / MOSEK = 業界最高水準の商用最適化ソルバー。 FIRE = 従来の最良 rule 抽出手法。</dc:title>
</cp:coreProperties>
</file>